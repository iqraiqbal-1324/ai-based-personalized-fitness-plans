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9" r:id="rId4"/>
    <p:sldId id="280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70" r:id="rId14"/>
    <p:sldId id="271" r:id="rId15"/>
    <p:sldId id="272" r:id="rId16"/>
    <p:sldId id="281" r:id="rId17"/>
    <p:sldId id="267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6" d="100"/>
          <a:sy n="106" d="100"/>
        </p:scale>
        <p:origin x="140" y="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5654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valakhorasani/gym-members-exercise-dataset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kaggle.com/datasets/ydalat/lifestyle-and-wellbeing-data" TargetMode="External"/><Relationship Id="rId5" Type="http://schemas.openxmlformats.org/officeDocument/2006/relationships/hyperlink" Target="https://www.kaggle.com/datasets/arashnic/fitbit" TargetMode="External"/><Relationship Id="rId4" Type="http://schemas.openxmlformats.org/officeDocument/2006/relationships/hyperlink" Target="https://www.kaggle.com/datasets/uom190346a/diet-recommendation-dataset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914400"/>
            <a:ext cx="4389120" cy="4389120"/>
          </a:xfrm>
          <a:prstGeom prst="ellipse">
            <a:avLst/>
          </a:prstGeom>
          <a:solidFill>
            <a:srgbClr val="163A6B">
              <a:alpha val="70000"/>
            </a:srgbClr>
          </a:solidFill>
          <a:ln w="12700">
            <a:solidFill>
              <a:srgbClr val="16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2834640"/>
            <a:ext cx="2743200" cy="2743200"/>
          </a:xfrm>
          <a:prstGeom prst="ellipse">
            <a:avLst/>
          </a:prstGeom>
          <a:solidFill>
            <a:srgbClr val="1B998B">
              <a:alpha val="22000"/>
            </a:srgbClr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84048" y="59436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84048" y="960120"/>
            <a:ext cx="73152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AI-Powered Personalized</a:t>
            </a:r>
            <a:endParaRPr lang="en-US" sz="37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Fitness &amp; Diet System</a:t>
            </a:r>
            <a:endParaRPr lang="en-US" sz="3700" dirty="0"/>
          </a:p>
        </p:txBody>
      </p:sp>
      <p:sp>
        <p:nvSpPr>
          <p:cNvPr id="8" name="Shape 6"/>
          <p:cNvSpPr/>
          <p:nvPr/>
        </p:nvSpPr>
        <p:spPr>
          <a:xfrm>
            <a:off x="384048" y="3182112"/>
            <a:ext cx="3840480" cy="36576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84048" y="3401568"/>
            <a:ext cx="3749040" cy="1463040"/>
          </a:xfrm>
          <a:prstGeom prst="rect">
            <a:avLst/>
          </a:prstGeom>
          <a:solidFill>
            <a:srgbClr val="112040"/>
          </a:solidFill>
          <a:ln w="12700">
            <a:solidFill>
              <a:srgbClr val="11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66928" y="3493008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374904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Omamah Ajmal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" y="399592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Daniya Aamir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4242816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Iqra Iqbal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15968" y="3451860"/>
            <a:ext cx="4480560" cy="1463040"/>
          </a:xfrm>
          <a:prstGeom prst="rect">
            <a:avLst/>
          </a:prstGeom>
          <a:solidFill>
            <a:srgbClr val="112040"/>
          </a:solidFill>
          <a:ln w="12700">
            <a:solidFill>
              <a:srgbClr val="11204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498848" y="3520440"/>
            <a:ext cx="41148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</a:t>
            </a:r>
          </a:p>
          <a:p>
            <a:pPr marL="0" indent="0">
              <a:buNone/>
            </a:pPr>
            <a:endParaRPr lang="en-US" sz="800" b="1" kern="0" spc="200" dirty="0">
              <a:solidFill>
                <a:srgbClr val="2EC4B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Shahzad Ahmed Quresh</a:t>
            </a:r>
          </a:p>
          <a:p>
            <a:pPr marL="0" indent="0">
              <a:buNone/>
            </a:pP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498848" y="3822192"/>
            <a:ext cx="4114800" cy="9141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400" b="1" kern="0" spc="200" dirty="0">
              <a:solidFill>
                <a:srgbClr val="2EC4B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Dure Shahwar</a:t>
            </a:r>
          </a:p>
          <a:p>
            <a:pPr marL="0" indent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411480" y="137160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 &amp; Motivation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694944"/>
            <a:ext cx="8321040" cy="27432"/>
          </a:xfrm>
          <a:prstGeom prst="rect">
            <a:avLst/>
          </a:prstGeom>
          <a:solidFill>
            <a:srgbClr val="E2E8EE"/>
          </a:solidFill>
          <a:ln w="12700">
            <a:solidFill>
              <a:srgbClr val="E2E8E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347472" y="896112"/>
            <a:ext cx="4206240" cy="40233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530352" y="10058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30352" y="148132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D0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fitness apps offer one-size-fits-all plans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D0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health profiles vary greatly in BMI, vitals, lifestyle, and goals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30352" y="267004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D0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model can capture all aspects of a person's health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30352" y="326440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D0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systems miss subtle patterns in user data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73168" y="896112"/>
            <a:ext cx="4023360" cy="402336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2" name="Text 10"/>
          <p:cNvSpPr/>
          <p:nvPr/>
        </p:nvSpPr>
        <p:spPr>
          <a:xfrm>
            <a:off x="4956048" y="10058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Solution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956048" y="148132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Random Forest models trained on 4 real datasets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56048" y="207568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model specialises in one health domain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56048" y="267004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 outputs fused via PCA into one unified representation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56048" y="326440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agent learns the optimal daily plan per user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411480" y="137160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Datasets Used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694944"/>
            <a:ext cx="8321040" cy="27432"/>
          </a:xfrm>
          <a:prstGeom prst="rect">
            <a:avLst/>
          </a:prstGeom>
          <a:solidFill>
            <a:srgbClr val="E2E8EE"/>
          </a:solidFill>
          <a:ln w="12700">
            <a:solidFill>
              <a:srgbClr val="E2E8E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256032" y="896112"/>
            <a:ext cx="4224528" cy="2029968"/>
          </a:xfrm>
          <a:prstGeom prst="rect">
            <a:avLst/>
          </a:prstGeom>
          <a:solidFill>
            <a:srgbClr val="FFFFFF"/>
          </a:solidFill>
          <a:ln w="7620">
            <a:solidFill>
              <a:srgbClr val="E2E8E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4160520" cy="5486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429768" y="1024128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Gym Members Exercise Tracking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29768" y="1316736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973 records · 15 features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29768" y="1554480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weight, height, BMI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29768" y="1792224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rate metrics (max, avg, resting BPM)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29768" y="202996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duration, fat %, water intake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29768" y="2267712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Workout frequency, experience level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9768" y="2542032"/>
            <a:ext cx="3931920" cy="219456"/>
          </a:xfrm>
          <a:prstGeom prst="rect">
            <a:avLst/>
          </a:prstGeom>
          <a:solidFill>
            <a:srgbClr val="0B2545">
              <a:alpha val="12000"/>
            </a:srgbClr>
          </a:solidFill>
          <a:ln w="12700">
            <a:solidFill>
              <a:srgbClr val="0B2545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4" name="Text 12"/>
          <p:cNvSpPr/>
          <p:nvPr/>
        </p:nvSpPr>
        <p:spPr>
          <a:xfrm>
            <a:off x="502920" y="2542032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Predicts:  Workout Type  +  Calories Burned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27448" y="896112"/>
            <a:ext cx="4160520" cy="2048256"/>
          </a:xfrm>
          <a:prstGeom prst="rect">
            <a:avLst/>
          </a:prstGeom>
          <a:solidFill>
            <a:srgbClr val="FFFFFF"/>
          </a:solidFill>
          <a:ln w="7620">
            <a:solidFill>
              <a:srgbClr val="E2E8E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6" name="Shape 14"/>
          <p:cNvSpPr/>
          <p:nvPr/>
        </p:nvSpPr>
        <p:spPr>
          <a:xfrm>
            <a:off x="4727448" y="896112"/>
            <a:ext cx="4160520" cy="54864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7" name="Text 15"/>
          <p:cNvSpPr/>
          <p:nvPr/>
        </p:nvSpPr>
        <p:spPr>
          <a:xfrm>
            <a:off x="4837176" y="1024128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99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Personalized Diet Recommendations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37176" y="1316736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9,873 records · 25 features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37176" y="1554480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pressure, cholesterol, blood sugar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37176" y="1792224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steps, sleep hours, exercise frequency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37176" y="202996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caloric &amp; macro intake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37176" y="2267712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Genetic risk, smoking, alcohol habits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37176" y="2542032"/>
            <a:ext cx="3931920" cy="219456"/>
          </a:xfrm>
          <a:prstGeom prst="rect">
            <a:avLst/>
          </a:prstGeom>
          <a:solidFill>
            <a:srgbClr val="1B998B">
              <a:alpha val="12000"/>
            </a:srgbClr>
          </a:solidFill>
          <a:ln w="12700">
            <a:solidFill>
              <a:srgbClr val="1B998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4" name="Text 22"/>
          <p:cNvSpPr/>
          <p:nvPr/>
        </p:nvSpPr>
        <p:spPr>
          <a:xfrm>
            <a:off x="4910328" y="2542032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Predicts:  Meal Plan  +  Recommended Macros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2999232"/>
            <a:ext cx="4160520" cy="2029968"/>
          </a:xfrm>
          <a:prstGeom prst="rect">
            <a:avLst/>
          </a:prstGeom>
          <a:solidFill>
            <a:srgbClr val="FFFFFF"/>
          </a:solidFill>
          <a:ln w="7620">
            <a:solidFill>
              <a:srgbClr val="E2E8E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6" name="Shape 24"/>
          <p:cNvSpPr/>
          <p:nvPr/>
        </p:nvSpPr>
        <p:spPr>
          <a:xfrm>
            <a:off x="320040" y="2999232"/>
            <a:ext cx="416052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7" name="Text 25"/>
          <p:cNvSpPr/>
          <p:nvPr/>
        </p:nvSpPr>
        <p:spPr>
          <a:xfrm>
            <a:off x="429768" y="3127248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Daily Activity Dataset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29768" y="3419856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457 records · 15 features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29768" y="3657600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steps, distance, active minutes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29768" y="3895344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Very/moderately/lightly active minutes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29768" y="413308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Sedentary minutes, calories burned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29768" y="4370832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date, tracker vs logged distance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29768" y="4645152"/>
            <a:ext cx="3931920" cy="219456"/>
          </a:xfrm>
          <a:prstGeom prst="rect">
            <a:avLst/>
          </a:prstGeom>
          <a:solidFill>
            <a:srgbClr val="1565C0">
              <a:alpha val="12000"/>
            </a:srgbClr>
          </a:solidFill>
          <a:ln w="12700">
            <a:solidFill>
              <a:srgbClr val="1565C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4" name="Text 32"/>
          <p:cNvSpPr/>
          <p:nvPr/>
        </p:nvSpPr>
        <p:spPr>
          <a:xfrm>
            <a:off x="502920" y="4645152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Predicts:  Intensity Level  +  Calorie Burn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27448" y="2999232"/>
            <a:ext cx="4160520" cy="2029968"/>
          </a:xfrm>
          <a:prstGeom prst="rect">
            <a:avLst/>
          </a:prstGeom>
          <a:solidFill>
            <a:srgbClr val="FFFFFF"/>
          </a:solidFill>
          <a:ln w="7620">
            <a:solidFill>
              <a:srgbClr val="E2E8E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36" name="Shape 34"/>
          <p:cNvSpPr/>
          <p:nvPr/>
        </p:nvSpPr>
        <p:spPr>
          <a:xfrm>
            <a:off x="4727448" y="2999232"/>
            <a:ext cx="4160520" cy="54864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7" name="Text 35"/>
          <p:cNvSpPr/>
          <p:nvPr/>
        </p:nvSpPr>
        <p:spPr>
          <a:xfrm>
            <a:off x="4837176" y="3127248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1FA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Health &amp; Lifestyle Survey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837176" y="3419856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261 records · 22 features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837176" y="3657600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physical self-ratings (Likert scale)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837176" y="3895344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Fruit, vegetable &amp; meal cooking habits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837176" y="413308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Income, spending, gym frequency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837176" y="4370832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flag, work type, gender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837176" y="4645152"/>
            <a:ext cx="3931920" cy="219456"/>
          </a:xfrm>
          <a:prstGeom prst="rect">
            <a:avLst/>
          </a:prstGeom>
          <a:solidFill>
            <a:srgbClr val="7B1FA2">
              <a:alpha val="12000"/>
            </a:srgbClr>
          </a:solidFill>
          <a:ln w="12700">
            <a:solidFill>
              <a:srgbClr val="7B1FA2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4" name="Text 42"/>
          <p:cNvSpPr/>
          <p:nvPr/>
        </p:nvSpPr>
        <p:spPr>
          <a:xfrm>
            <a:off x="4910328" y="4645152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Predicts:  Adherence Score (composite)</a:t>
            </a:r>
            <a:endParaRPr lang="en-US" sz="1000" dirty="0"/>
          </a:p>
        </p:txBody>
      </p:sp>
      <p:sp>
        <p:nvSpPr>
          <p:cNvPr id="50" name="LinkGym"/>
          <p:cNvSpPr/>
          <p:nvPr/>
        </p:nvSpPr>
        <p:spPr>
          <a:xfrm>
            <a:off x="429768" y="2778000"/>
            <a:ext cx="3886200" cy="8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0" u="sng" dirty="0">
                <a:solidFill>
                  <a:srgbClr val="1B998B"/>
                </a:solidFill>
                <a:latin typeface="Calibri" pitchFamily="34" charset="0"/>
                <a:hlinkClick r:id="rId3"/>
              </a:rPr>
              <a:t>Kaggle: Gym Members Exercise Dataset</a:t>
            </a:r>
          </a:p>
        </p:txBody>
      </p:sp>
      <p:sp>
        <p:nvSpPr>
          <p:cNvPr id="51" name="LinkDiet"/>
          <p:cNvSpPr/>
          <p:nvPr/>
        </p:nvSpPr>
        <p:spPr>
          <a:xfrm>
            <a:off x="4837176" y="2778000"/>
            <a:ext cx="3886200" cy="8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0" u="sng" dirty="0">
                <a:solidFill>
                  <a:srgbClr val="1B998B"/>
                </a:solidFill>
                <a:latin typeface="Calibri" pitchFamily="34" charset="0"/>
                <a:hlinkClick r:id="rId4"/>
              </a:rPr>
              <a:t>Kaggle: Personalized Diet Recommendations</a:t>
            </a:r>
          </a:p>
        </p:txBody>
      </p:sp>
      <p:sp>
        <p:nvSpPr>
          <p:cNvPr id="52" name="LinkExercise"/>
          <p:cNvSpPr/>
          <p:nvPr/>
        </p:nvSpPr>
        <p:spPr>
          <a:xfrm>
            <a:off x="429768" y="4880000"/>
            <a:ext cx="3886200" cy="8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0" u="sng" dirty="0">
                <a:solidFill>
                  <a:srgbClr val="1B998B"/>
                </a:solidFill>
                <a:latin typeface="Calibri" pitchFamily="34" charset="0"/>
                <a:hlinkClick r:id="rId5"/>
              </a:rPr>
              <a:t>Kaggle: Fitbit Daily Activity Dataset</a:t>
            </a:r>
          </a:p>
        </p:txBody>
      </p:sp>
      <p:sp>
        <p:nvSpPr>
          <p:cNvPr id="53" name="LinkSurvey"/>
          <p:cNvSpPr/>
          <p:nvPr/>
        </p:nvSpPr>
        <p:spPr>
          <a:xfrm>
            <a:off x="4837176" y="4880000"/>
            <a:ext cx="3886200" cy="8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0" u="sng" dirty="0">
                <a:solidFill>
                  <a:srgbClr val="1B998B"/>
                </a:solidFill>
                <a:latin typeface="Calibri" pitchFamily="34" charset="0"/>
                <a:hlinkClick r:id="rId6"/>
              </a:rPr>
              <a:t>Kaggle: Lifestyle and Wellbeing Survey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411480" y="100000"/>
            <a:ext cx="8321040" cy="4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2545"/>
                </a:solidFill>
                <a:latin typeface="Trebuchet MS" pitchFamily="34" charset="0"/>
              </a:rPr>
              <a:t>System Flowchart</a:t>
            </a:r>
            <a:endParaRPr lang="en-US" sz="2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A6F5DA-E445-6037-6129-228599BE5A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027" y="530000"/>
            <a:ext cx="7018101" cy="461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37160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Preprocessing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694944"/>
            <a:ext cx="8321040" cy="27432"/>
          </a:xfrm>
          <a:prstGeom prst="rect">
            <a:avLst/>
          </a:prstGeom>
          <a:solidFill>
            <a:srgbClr val="E2E8EE"/>
          </a:solidFill>
          <a:ln w="12700">
            <a:solidFill>
              <a:srgbClr val="E2E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950976"/>
            <a:ext cx="365760" cy="36576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9509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Drop Incomplete Rows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18872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row missing a required feature or target is removed before training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89204" y="1325880"/>
            <a:ext cx="36576" cy="411480"/>
          </a:xfrm>
          <a:prstGeom prst="rect">
            <a:avLst/>
          </a:prstGeom>
          <a:solidFill>
            <a:srgbClr val="E2E8EE"/>
          </a:solidFill>
          <a:ln w="12700">
            <a:solidFill>
              <a:srgbClr val="E2E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1773936"/>
            <a:ext cx="365760" cy="36576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" y="17739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22960" y="17373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Encode Categories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01168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values like Gender, Workout Type, Meal Plan are converted to numbers using Label Encoding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89204" y="2148840"/>
            <a:ext cx="36576" cy="411480"/>
          </a:xfrm>
          <a:prstGeom prst="rect">
            <a:avLst/>
          </a:prstGeom>
          <a:solidFill>
            <a:srgbClr val="E2E8EE"/>
          </a:solidFill>
          <a:ln w="12700">
            <a:solidFill>
              <a:srgbClr val="E2E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0040" y="2596896"/>
            <a:ext cx="365760" cy="36576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0040" y="25968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22960" y="25603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Normalize Features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283464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numeric columns are scaled to a common range, so no single feature dominates the model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9204" y="2971800"/>
            <a:ext cx="36576" cy="411480"/>
          </a:xfrm>
          <a:prstGeom prst="rect">
            <a:avLst/>
          </a:prstGeom>
          <a:solidFill>
            <a:srgbClr val="E2E8EE"/>
          </a:solidFill>
          <a:ln w="12700">
            <a:solidFill>
              <a:srgbClr val="E2E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20040" y="3419856"/>
            <a:ext cx="365760" cy="36576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0040" y="34198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22960" y="33832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Multi-Task Targets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365760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preprocessor produces one classification target and one regression target at the same time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9204" y="3794760"/>
            <a:ext cx="36576" cy="411480"/>
          </a:xfrm>
          <a:prstGeom prst="rect">
            <a:avLst/>
          </a:prstGeom>
          <a:solidFill>
            <a:srgbClr val="E2E8EE"/>
          </a:solidFill>
          <a:ln w="12700">
            <a:solidFill>
              <a:srgbClr val="E2E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20040" y="4242816"/>
            <a:ext cx="365760" cy="36576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20040" y="42428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22960" y="42062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Inference-Ready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" y="448056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Fitted scalers and label encoders are saved so new user data can be transformed consistently at prediction time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074920" y="914400"/>
            <a:ext cx="3749040" cy="1901952"/>
          </a:xfrm>
          <a:prstGeom prst="rect">
            <a:avLst/>
          </a:prstGeom>
          <a:solidFill>
            <a:srgbClr val="F4F7F9"/>
          </a:solidFill>
          <a:ln w="7620">
            <a:solidFill>
              <a:srgbClr val="E2E8E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230368" y="102412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Selected Per Dataset</a:t>
            </a:r>
            <a:endParaRPr lang="en-US" sz="12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38928" y="1335024"/>
          <a:ext cx="3611880" cy="1924812"/>
        </p:xfrm>
        <a:graphic>
          <a:graphicData uri="http://schemas.openxmlformats.org/drawingml/2006/table">
            <a:tbl>
              <a:tblPr/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Gym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Classifier + regressor for workout type and calories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Classifier + multi-output regressor for meal plan and macros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Exercise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Classifier + regressor for intensity and calorie burn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Survey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Regressor for composite adherence score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2" name="Shape 29"/>
          <p:cNvSpPr/>
          <p:nvPr/>
        </p:nvSpPr>
        <p:spPr>
          <a:xfrm>
            <a:off x="5074920" y="2944368"/>
            <a:ext cx="3749040" cy="1993392"/>
          </a:xfrm>
          <a:prstGeom prst="rect">
            <a:avLst/>
          </a:prstGeom>
          <a:solidFill>
            <a:srgbClr val="F4F7F9"/>
          </a:solidFill>
          <a:ln w="7620">
            <a:solidFill>
              <a:srgbClr val="E2E8E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5230368" y="3054096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Survey Adherence Score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5230368" y="3401568"/>
            <a:ext cx="34290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survey dataset has no single ready-made target, so a composite score is calculated from three self-rated health attitude questions. The average of these three ratings becomes the value the model learns to predict.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3" name="Text 1"/>
          <p:cNvSpPr/>
          <p:nvPr/>
        </p:nvSpPr>
        <p:spPr>
          <a:xfrm>
            <a:off x="411480" y="137160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Machine Learning Models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694944"/>
            <a:ext cx="8321040" cy="27432"/>
          </a:xfrm>
          <a:prstGeom prst="rect">
            <a:avLst/>
          </a:prstGeom>
          <a:solidFill>
            <a:srgbClr val="E2E8EE"/>
          </a:solidFill>
          <a:ln w="12700">
            <a:solidFill>
              <a:srgbClr val="E2E8EE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5" name="Text 3"/>
          <p:cNvSpPr/>
          <p:nvPr/>
        </p:nvSpPr>
        <p:spPr>
          <a:xfrm>
            <a:off x="411480" y="768096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domain uses a Random Forest model — one classifier and one regressor per dataset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92608" y="1078992"/>
            <a:ext cx="2743200" cy="384048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E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000"/>
          </a:p>
        </p:txBody>
      </p:sp>
      <p:sp>
        <p:nvSpPr>
          <p:cNvPr id="7" name="Shape 5"/>
          <p:cNvSpPr/>
          <p:nvPr/>
        </p:nvSpPr>
        <p:spPr>
          <a:xfrm>
            <a:off x="292608" y="1033272"/>
            <a:ext cx="2743200" cy="493776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8" name="Text 6"/>
          <p:cNvSpPr/>
          <p:nvPr/>
        </p:nvSpPr>
        <p:spPr>
          <a:xfrm>
            <a:off x="292608" y="1115568"/>
            <a:ext cx="2316949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Random Forest- Gym &amp; Exercise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33856" y="1344168"/>
            <a:ext cx="25420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  &amp;  Daily Activity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02336" y="1554480"/>
            <a:ext cx="2523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02336" y="1773936"/>
            <a:ext cx="2523744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separate RF models per dataset — one classifier for workout/intensity type, one regressor for calorie burn. Same architecture applied to both Gym and Daily Activity data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02336" y="2706624"/>
            <a:ext cx="2523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steps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02336" y="2944368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r>
              <a:rPr lang="en-US" sz="10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trees, max depth 10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02336" y="3218688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r>
              <a:rPr lang="en-US" sz="10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80/20 train-test split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02336" y="3493008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02336" y="3840480"/>
            <a:ext cx="2523744" cy="777240"/>
          </a:xfrm>
          <a:prstGeom prst="rect">
            <a:avLst/>
          </a:prstGeom>
          <a:solidFill>
            <a:srgbClr val="EEF2FF"/>
          </a:solidFill>
          <a:ln w="12700">
            <a:solidFill>
              <a:srgbClr val="0B254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7" name="Text 15"/>
          <p:cNvSpPr/>
          <p:nvPr/>
        </p:nvSpPr>
        <p:spPr>
          <a:xfrm>
            <a:off x="475488" y="3895344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mixed numeric and categorical gym features with high accuracy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18688" y="1078992"/>
            <a:ext cx="2743200" cy="384048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E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000"/>
          </a:p>
        </p:txBody>
      </p:sp>
      <p:sp>
        <p:nvSpPr>
          <p:cNvPr id="19" name="Shape 17"/>
          <p:cNvSpPr/>
          <p:nvPr/>
        </p:nvSpPr>
        <p:spPr>
          <a:xfrm>
            <a:off x="3218688" y="1078992"/>
            <a:ext cx="2743200" cy="475488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20" name="Text 18"/>
          <p:cNvSpPr/>
          <p:nvPr/>
        </p:nvSpPr>
        <p:spPr>
          <a:xfrm>
            <a:off x="3328416" y="1115568"/>
            <a:ext cx="2542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Random Forest — Diet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328416" y="1344168"/>
            <a:ext cx="25420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28416" y="1554480"/>
            <a:ext cx="2523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99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328416" y="1773936"/>
            <a:ext cx="2523744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Random Forest models trained on diet records — a classifier for meal plan and a MultiOutputRegressor for all macro targets simultaneously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28416" y="2706624"/>
            <a:ext cx="2523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99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steps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328416" y="2944368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r>
              <a:rPr lang="en-US" sz="10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trees, max depth 10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28416" y="3218688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r>
              <a:rPr lang="en-US" sz="10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MultiOutputRegressor wraps RF for macro predictions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328416" y="3840480"/>
            <a:ext cx="2523744" cy="777240"/>
          </a:xfrm>
          <a:prstGeom prst="rect">
            <a:avLst/>
          </a:prstGeom>
          <a:solidFill>
            <a:srgbClr val="E8F8F5"/>
          </a:solidFill>
          <a:ln w="12700">
            <a:solidFill>
              <a:srgbClr val="1B998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29" name="Text 27"/>
          <p:cNvSpPr/>
          <p:nvPr/>
        </p:nvSpPr>
        <p:spPr>
          <a:xfrm>
            <a:off x="3401568" y="3895344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Effectively predicts both meal plan category and precise daily macro targets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44768" y="1078992"/>
            <a:ext cx="2743200" cy="384048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E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000"/>
          </a:p>
        </p:txBody>
      </p:sp>
      <p:sp>
        <p:nvSpPr>
          <p:cNvPr id="31" name="Shape 29"/>
          <p:cNvSpPr/>
          <p:nvPr/>
        </p:nvSpPr>
        <p:spPr>
          <a:xfrm>
            <a:off x="6144768" y="1078992"/>
            <a:ext cx="2743200" cy="45720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32" name="Text 30"/>
          <p:cNvSpPr/>
          <p:nvPr/>
        </p:nvSpPr>
        <p:spPr>
          <a:xfrm>
            <a:off x="6254496" y="1115568"/>
            <a:ext cx="2542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Random Forest — Survey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254496" y="1344168"/>
            <a:ext cx="25420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54496" y="1554480"/>
            <a:ext cx="2523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B1FA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254496" y="1773936"/>
            <a:ext cx="2523744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Random Forest regressor trained on survey Likert-scale data to predict a composite adherence score from self-rated health attitude items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54496" y="2706624"/>
            <a:ext cx="2523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B1FA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steps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254496" y="2944368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r>
              <a:rPr lang="en-US" sz="10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trees, max depth 10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254496" y="3218688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r>
              <a:rPr lang="en-US" sz="10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adherence score from 3 self-rated questions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54496" y="3493008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254496" y="3840480"/>
            <a:ext cx="2523744" cy="777240"/>
          </a:xfrm>
          <a:prstGeom prst="rect">
            <a:avLst/>
          </a:prstGeom>
          <a:solidFill>
            <a:srgbClr val="F5EEF8"/>
          </a:solidFill>
          <a:ln w="12700">
            <a:solidFill>
              <a:srgbClr val="7B1FA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41" name="Text 39"/>
          <p:cNvSpPr/>
          <p:nvPr/>
        </p:nvSpPr>
        <p:spPr>
          <a:xfrm>
            <a:off x="6327648" y="3895344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regressor for independent Likert-scale features with no sequence structure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92608" y="5010912"/>
            <a:ext cx="8558784" cy="54864"/>
          </a:xfrm>
          <a:prstGeom prst="rect">
            <a:avLst/>
          </a:prstGeom>
          <a:solidFill>
            <a:srgbClr val="0B2545"/>
          </a:solidFill>
          <a:ln w="7620">
            <a:solidFill>
              <a:srgbClr val="E2E8E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000"/>
          </a:p>
        </p:txBody>
      </p:sp>
      <p:sp>
        <p:nvSpPr>
          <p:cNvPr id="43" name="Shape 41"/>
          <p:cNvSpPr/>
          <p:nvPr/>
        </p:nvSpPr>
        <p:spPr>
          <a:xfrm>
            <a:off x="292608" y="4965192"/>
            <a:ext cx="8558784" cy="0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37160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Multi-Task Learning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694944"/>
            <a:ext cx="8321040" cy="27432"/>
          </a:xfrm>
          <a:prstGeom prst="rect">
            <a:avLst/>
          </a:prstGeom>
          <a:solidFill>
            <a:srgbClr val="E2E8EE"/>
          </a:solidFill>
          <a:ln w="12700">
            <a:solidFill>
              <a:srgbClr val="E2E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768096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trains two tasks at once — one Random Forest classifier and one regressor, trained on the same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1417320"/>
          </a:xfrm>
          <a:prstGeom prst="rect">
            <a:avLst/>
          </a:prstGeom>
          <a:solidFill>
            <a:srgbClr val="F4F7F9"/>
          </a:solidFill>
          <a:ln w="7620">
            <a:solidFill>
              <a:srgbClr val="E2E8E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 Features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298448"/>
            <a:ext cx="1463040" cy="47548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298448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 Features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920240" y="1508760"/>
            <a:ext cx="502920" cy="45720"/>
          </a:xfrm>
          <a:prstGeom prst="rect">
            <a:avLst/>
          </a:prstGeom>
          <a:solidFill>
            <a:srgbClr val="6B7A8D"/>
          </a:solidFill>
          <a:ln w="12700">
            <a:solidFill>
              <a:srgbClr val="6B7A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423160" y="1234440"/>
            <a:ext cx="1645920" cy="100584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423160" y="123444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RF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069080" y="1325880"/>
            <a:ext cx="502920" cy="45720"/>
          </a:xfrm>
          <a:prstGeom prst="rect">
            <a:avLst/>
          </a:prstGeom>
          <a:solidFill>
            <a:srgbClr val="6B7A8D"/>
          </a:solidFill>
          <a:ln w="12700">
            <a:solidFill>
              <a:srgbClr val="6B7A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069080" y="1691640"/>
            <a:ext cx="502920" cy="45720"/>
          </a:xfrm>
          <a:prstGeom prst="rect">
            <a:avLst/>
          </a:prstGeom>
          <a:solidFill>
            <a:srgbClr val="6B7A8D"/>
          </a:solidFill>
          <a:ln w="12700">
            <a:solidFill>
              <a:srgbClr val="6B7A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0" y="1170432"/>
            <a:ext cx="1691640" cy="4572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0" y="1170432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Head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a category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0" y="1700784"/>
            <a:ext cx="1691640" cy="45720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0" y="1700784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Head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a number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63640" y="1325880"/>
            <a:ext cx="411480" cy="45720"/>
          </a:xfrm>
          <a:prstGeom prst="rect">
            <a:avLst/>
          </a:prstGeom>
          <a:solidFill>
            <a:srgbClr val="6B7A8D"/>
          </a:solidFill>
          <a:ln w="12700">
            <a:solidFill>
              <a:srgbClr val="6B7A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263640" y="1719072"/>
            <a:ext cx="411480" cy="45720"/>
          </a:xfrm>
          <a:prstGeom prst="rect">
            <a:avLst/>
          </a:prstGeom>
          <a:solidFill>
            <a:srgbClr val="6B7A8D"/>
          </a:solidFill>
          <a:ln w="12700">
            <a:solidFill>
              <a:srgbClr val="6B7A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675120" y="1188720"/>
            <a:ext cx="1828800" cy="402336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675120" y="118872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Label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675120" y="1682496"/>
            <a:ext cx="1828800" cy="402336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675120" y="1682496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Value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11480" y="26517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each model predicts: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20040" y="2962656"/>
            <a:ext cx="2011680" cy="178308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E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20040" y="2962656"/>
            <a:ext cx="2011680" cy="32918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11480" y="29992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Gym Model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11480" y="33649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11480" y="35661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Workout Type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11480" y="387705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Regression: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11480" y="407822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Calories Burned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496312" y="2962656"/>
            <a:ext cx="2011680" cy="178308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E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2496312" y="2962656"/>
            <a:ext cx="2011680" cy="329184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587752" y="29992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Diet Model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587752" y="33649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587752" y="35661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 Plan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587752" y="387705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Regression: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587752" y="407822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Macros (4 values)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672584" y="2962656"/>
            <a:ext cx="2011680" cy="178308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E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672584" y="2962656"/>
            <a:ext cx="2011680" cy="32918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764024" y="29992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Exercise Model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764024" y="33649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764024" y="35661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Intensity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764024" y="387705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Regression: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764024" y="407822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Calorie Burn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848856" y="2962656"/>
            <a:ext cx="2011680" cy="178308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E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6848856" y="2962656"/>
            <a:ext cx="2011680" cy="329184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940296" y="29992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Survey Model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6940296" y="33649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940296" y="35661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(regression only)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940296" y="387705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Regression: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940296" y="407822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Adherence Score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20040" y="4846320"/>
            <a:ext cx="8503920" cy="219456"/>
          </a:xfrm>
          <a:prstGeom prst="rect">
            <a:avLst/>
          </a:prstGeom>
          <a:solidFill>
            <a:srgbClr val="D6F0EC"/>
          </a:solidFill>
          <a:ln w="7620">
            <a:solidFill>
              <a:srgbClr val="E2E8E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57200" y="487375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Training:  80% of data for training · 20% held out for testing · Results: Gym 99.49% · Diet 96.92% · Exercise 95.74% accuracy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37160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Cross-Dataset Fusion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694944"/>
            <a:ext cx="8321040" cy="27432"/>
          </a:xfrm>
          <a:prstGeom prst="rect">
            <a:avLst/>
          </a:prstGeom>
          <a:solidFill>
            <a:srgbClr val="E2E8EE"/>
          </a:solidFill>
          <a:ln w="12700">
            <a:solidFill>
              <a:srgbClr val="E2E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768096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training, all four model feature sets are combined via PCA into a single unified representation of the user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1874520" cy="6858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078992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Gym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Embedding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225296" y="1764792"/>
            <a:ext cx="45720" cy="347472"/>
          </a:xfrm>
          <a:prstGeom prst="rect">
            <a:avLst/>
          </a:prstGeom>
          <a:solidFill>
            <a:srgbClr val="6B7A8D"/>
          </a:solidFill>
          <a:ln w="12700">
            <a:solidFill>
              <a:srgbClr val="6B7A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468880" y="1078992"/>
            <a:ext cx="1874520" cy="68580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468880" y="1078992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Diet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Embedding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74136" y="1764792"/>
            <a:ext cx="45720" cy="347472"/>
          </a:xfrm>
          <a:prstGeom prst="rect">
            <a:avLst/>
          </a:prstGeom>
          <a:solidFill>
            <a:srgbClr val="6B7A8D"/>
          </a:solidFill>
          <a:ln w="12700">
            <a:solidFill>
              <a:srgbClr val="6B7A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17720" y="1078992"/>
            <a:ext cx="1874520" cy="685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17720" y="1078992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Exercise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Embedding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522976" y="1764792"/>
            <a:ext cx="45720" cy="347472"/>
          </a:xfrm>
          <a:prstGeom prst="rect">
            <a:avLst/>
          </a:prstGeom>
          <a:solidFill>
            <a:srgbClr val="6B7A8D"/>
          </a:solidFill>
          <a:ln w="12700">
            <a:solidFill>
              <a:srgbClr val="6B7A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766560" y="1078992"/>
            <a:ext cx="1874520" cy="68580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766560" y="1078992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Survey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Embedding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671816" y="1764792"/>
            <a:ext cx="45720" cy="347472"/>
          </a:xfrm>
          <a:prstGeom prst="rect">
            <a:avLst/>
          </a:prstGeom>
          <a:solidFill>
            <a:srgbClr val="6B7A8D"/>
          </a:solidFill>
          <a:ln w="12700">
            <a:solidFill>
              <a:srgbClr val="6B7A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0040" y="2112264"/>
            <a:ext cx="8503920" cy="47548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0040" y="2112264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Tiled to equal length, then concatenated  →  one large combined matrix (4 feature sets)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44568" y="2587752"/>
            <a:ext cx="45720" cy="347472"/>
          </a:xfrm>
          <a:prstGeom prst="rect">
            <a:avLst/>
          </a:prstGeom>
          <a:solidFill>
            <a:srgbClr val="6B7A8D"/>
          </a:solidFill>
          <a:ln w="12700">
            <a:solidFill>
              <a:srgbClr val="6B7A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057400" y="2935224"/>
            <a:ext cx="5029200" cy="42062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057400" y="2935224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applied to the concatenated matrix  —  reduces dimensionality while retaining most variance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44568" y="3355848"/>
            <a:ext cx="45720" cy="109728"/>
          </a:xfrm>
          <a:prstGeom prst="rect">
            <a:avLst/>
          </a:prstGeom>
          <a:solidFill>
            <a:srgbClr val="6B7A8D"/>
          </a:solidFill>
          <a:ln w="12700">
            <a:solidFill>
              <a:srgbClr val="6B7A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651760" y="3465576"/>
            <a:ext cx="3840480" cy="42062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651760" y="3465576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set to min(64, n_samples, n_features)  —  auto-scaled to dataset size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44568" y="3886200"/>
            <a:ext cx="45720" cy="109728"/>
          </a:xfrm>
          <a:prstGeom prst="rect">
            <a:avLst/>
          </a:prstGeom>
          <a:solidFill>
            <a:srgbClr val="6B7A8D"/>
          </a:solidFill>
          <a:ln w="12700">
            <a:solidFill>
              <a:srgbClr val="6B7A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200400" y="3995928"/>
            <a:ext cx="2743200" cy="420624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200400" y="3995928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Fused Embedding  —  Compact PCA-reduced vector passed to the HMM and RL agent for health state estimation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4636008"/>
            <a:ext cx="8503920" cy="41148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E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fuse?  Each dataset captures different aspects of health. Combining them via PCA lets the HMM and RL agent reason about the whole person — not just one dimension.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AD1457"/>
          </a:solidFill>
          <a:ln w="12700">
            <a:solidFill>
              <a:srgbClr val="AD14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37160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Health State Estimation (HMM)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694944"/>
            <a:ext cx="8321040" cy="27432"/>
          </a:xfrm>
          <a:prstGeom prst="rect">
            <a:avLst/>
          </a:prstGeom>
          <a:solidFill>
            <a:srgbClr val="E2E8EE"/>
          </a:solidFill>
          <a:ln w="12700">
            <a:solidFill>
              <a:srgbClr val="E2E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768096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fused PCA embedding is fed into a Hidden Markov Model which classifies each user into one of four health states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92608" y="1078992"/>
            <a:ext cx="2743200" cy="329184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E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92608" y="1078992"/>
            <a:ext cx="2743200" cy="457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02336" y="1115568"/>
            <a:ext cx="25237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02336" y="1261872"/>
            <a:ext cx="2523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Sedentary 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02336" y="1627632"/>
            <a:ext cx="2523744" cy="676656"/>
          </a:xfrm>
          <a:prstGeom prst="rect">
            <a:avLst/>
          </a:prstGeom>
          <a:solidFill>
            <a:srgbClr val="FDEDEC"/>
          </a:solidFill>
          <a:ln w="12700">
            <a:solidFill>
              <a:srgbClr val="FDED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" y="16459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is in a low-activity phase. Body is recovering. Metrics are below optimal range.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02336" y="2377440"/>
            <a:ext cx="2523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signals: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02336" y="2615184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workout frequency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02336" y="2889504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sleep or high fatigue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02336" y="3163824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Sub-optimal BMI trend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18688" y="1078992"/>
            <a:ext cx="2743200" cy="329184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E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18688" y="1078992"/>
            <a:ext cx="2743200" cy="457200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328416" y="1115568"/>
            <a:ext cx="25237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1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328416" y="1261872"/>
            <a:ext cx="2523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Moderate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28416" y="1627632"/>
            <a:ext cx="2523744" cy="676656"/>
          </a:xfrm>
          <a:prstGeom prst="rect">
            <a:avLst/>
          </a:prstGeom>
          <a:solidFill>
            <a:srgbClr val="E9F7EF"/>
          </a:solidFill>
          <a:ln w="12700">
            <a:solidFill>
              <a:srgbClr val="E9F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401568" y="16459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maintains some activity. Moderate adherence. Metrics show improvement potential.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328416" y="2377440"/>
            <a:ext cx="2523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7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signals: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328416" y="2615184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workout frequency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328416" y="2889504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Adequate diet adherence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328416" y="3163824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BMI and heart rate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44768" y="1078992"/>
            <a:ext cx="2743200" cy="329184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E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144768" y="1078992"/>
            <a:ext cx="2743200" cy="45720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254496" y="1115568"/>
            <a:ext cx="25237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3 and 4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254496" y="1261872"/>
            <a:ext cx="2523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Active / Peak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54496" y="1627632"/>
            <a:ext cx="2523744" cy="676656"/>
          </a:xfrm>
          <a:prstGeom prst="rect">
            <a:avLst/>
          </a:prstGeom>
          <a:solidFill>
            <a:srgbClr val="F5EEF8"/>
          </a:solidFill>
          <a:ln w="12700">
            <a:solidFill>
              <a:srgbClr val="F5E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327648" y="16459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is performing at peak. High adherence, optimal fitness indicators, and consistent progress.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254496" y="2377440"/>
            <a:ext cx="2523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B1FA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signals: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254496" y="2615184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workout frequency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254496" y="2889504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caloric and macro intake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254496" y="3163824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adherence scores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92608" y="4480560"/>
            <a:ext cx="8558784" cy="585216"/>
          </a:xfrm>
          <a:prstGeom prst="rect">
            <a:avLst/>
          </a:prstGeom>
          <a:solidFill>
            <a:srgbClr val="F4F7F9"/>
          </a:solidFill>
          <a:ln w="7620">
            <a:solidFill>
              <a:srgbClr val="E2E8E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57200" y="455371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 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353312" y="455371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HMM (hmmlearn library)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7200" y="473659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States:  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353312" y="473659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hidden health states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57200" y="491947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Training:  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353312" y="49194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Baum-Welch  (150 iterations)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846320" y="455371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Prediction:  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742432" y="455371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Viterbi algorithm — finds the most likely state per user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846320" y="473659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 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742432" y="473659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Fused PCA embedding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75000"/>
          </a:solidFill>
          <a:ln w="12700">
            <a:solidFill>
              <a:srgbClr val="C75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37160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Reinforcement Learning — Daily Protocol Agent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694944"/>
            <a:ext cx="8321040" cy="27432"/>
          </a:xfrm>
          <a:prstGeom prst="rect">
            <a:avLst/>
          </a:prstGeom>
          <a:solidFill>
            <a:srgbClr val="E2E8EE"/>
          </a:solidFill>
          <a:ln w="12700">
            <a:solidFill>
              <a:srgbClr val="E2E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768096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PPO agent learns which combination of meal plan, workout, and intensity produces the best long-term outcomes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4160520" cy="3456432"/>
          </a:xfrm>
          <a:prstGeom prst="rect">
            <a:avLst/>
          </a:prstGeom>
          <a:solidFill>
            <a:srgbClr val="FFFFFF"/>
          </a:solidFill>
          <a:ln w="7620">
            <a:solidFill>
              <a:srgbClr val="E2E8E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078992"/>
            <a:ext cx="4160520" cy="347472"/>
          </a:xfrm>
          <a:prstGeom prst="rect">
            <a:avLst/>
          </a:prstGeom>
          <a:solidFill>
            <a:srgbClr val="C75000"/>
          </a:solidFill>
          <a:ln w="12700">
            <a:solidFill>
              <a:srgbClr val="C75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115568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Training Environment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" y="1517904"/>
            <a:ext cx="3913632" cy="320040"/>
          </a:xfrm>
          <a:prstGeom prst="rect">
            <a:avLst/>
          </a:prstGeom>
          <a:solidFill>
            <a:srgbClr val="F4F7F9"/>
          </a:solidFill>
          <a:ln w="3810">
            <a:solidFill>
              <a:srgbClr val="E2E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30352" y="153619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554480" y="1536192"/>
            <a:ext cx="2724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user's PCA-fused health embedding + current HMM health state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8912" y="1865376"/>
            <a:ext cx="3913632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30352" y="188366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Choices: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554480" y="1883664"/>
            <a:ext cx="2724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meal plans  ×  5 workout types  ×  5 intensities  =  125 options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38912" y="2212848"/>
            <a:ext cx="3913632" cy="320040"/>
          </a:xfrm>
          <a:prstGeom prst="rect">
            <a:avLst/>
          </a:prstGeom>
          <a:solidFill>
            <a:srgbClr val="F4F7F9"/>
          </a:solidFill>
          <a:ln w="3810">
            <a:solidFill>
              <a:srgbClr val="E2E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30352" y="223113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Reward: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554480" y="2231136"/>
            <a:ext cx="2724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predicted adherence and progress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30352" y="257860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554480" y="2578608"/>
            <a:ext cx="2724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30352" y="2963619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554480" y="2948940"/>
            <a:ext cx="2724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38912" y="2564892"/>
            <a:ext cx="3913632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12064" y="257860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536192" y="2610612"/>
            <a:ext cx="2724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— Proximal Policy Optimization (Stable-Baselines3)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63440" y="1078992"/>
            <a:ext cx="4160520" cy="1664208"/>
          </a:xfrm>
          <a:prstGeom prst="rect">
            <a:avLst/>
          </a:prstGeom>
          <a:solidFill>
            <a:srgbClr val="FFFFFF"/>
          </a:solidFill>
          <a:ln w="7620">
            <a:solidFill>
              <a:srgbClr val="E2E8E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663440" y="1078992"/>
            <a:ext cx="4160520" cy="347472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00600" y="1115568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Reward is Calculated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00600" y="150876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Adherence  (60%)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074920" y="1700784"/>
            <a:ext cx="3611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user follow the plan?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00600" y="185623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Progress  (40%)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074920" y="2048256"/>
            <a:ext cx="3611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health metrics improve?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00600" y="2203704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Extreme Penalty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074920" y="2395728"/>
            <a:ext cx="3611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Deducted if intensity is too easy or too hard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63440" y="2880360"/>
            <a:ext cx="4160520" cy="164592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E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663440" y="2880360"/>
            <a:ext cx="4160520" cy="3474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800600" y="291693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Action Space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800600" y="3310128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 Plans: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806440" y="331012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High-Protein · Low-Carb · Balanced · Mediterranean · Keto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800600" y="3675888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Workouts: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806440" y="367588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Yoga · HIIT · Cardio · Strength Training · Cycling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800600" y="4041648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Intensities: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806440" y="404164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 1 through 5 (from light to maximum effort)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20040" y="4626864"/>
            <a:ext cx="8503920" cy="411480"/>
          </a:xfrm>
          <a:prstGeom prst="rect">
            <a:avLst/>
          </a:prstGeom>
          <a:solidFill>
            <a:srgbClr val="F4F7F9"/>
          </a:solidFill>
          <a:ln w="7620">
            <a:solidFill>
              <a:srgbClr val="E2E8E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57200" y="465429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outputs a single action number (0–124) which is decoded back into a meal plan + workout type + intensity level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37160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Recommendation Engine &amp; Sample Output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694944"/>
            <a:ext cx="8321040" cy="27432"/>
          </a:xfrm>
          <a:prstGeom prst="rect">
            <a:avLst/>
          </a:prstGeom>
          <a:solidFill>
            <a:srgbClr val="E2E8EE"/>
          </a:solidFill>
          <a:ln w="12700">
            <a:solidFill>
              <a:srgbClr val="E2E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768096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trained components come together to produce one personalised plan for any given user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1536192" cy="10515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86968" y="1115568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86968" y="11155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1554480"/>
            <a:ext cx="15361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Inputs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" y="1792224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sets of personal data (gym, diet, exercise, survey)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856232" y="1563624"/>
            <a:ext cx="182880" cy="45720"/>
          </a:xfrm>
          <a:prstGeom prst="rect">
            <a:avLst/>
          </a:prstGeom>
          <a:solidFill>
            <a:srgbClr val="E2E8EE"/>
          </a:solidFill>
          <a:ln w="12700">
            <a:solidFill>
              <a:srgbClr val="E2E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039112" y="1078992"/>
            <a:ext cx="1536192" cy="105156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606040" y="1115568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606040" y="11155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99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039112" y="1554480"/>
            <a:ext cx="15361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Transform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039112" y="1792224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preprocessor scales and encodes the inputs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575304" y="1563624"/>
            <a:ext cx="182880" cy="45720"/>
          </a:xfrm>
          <a:prstGeom prst="rect">
            <a:avLst/>
          </a:prstGeom>
          <a:solidFill>
            <a:srgbClr val="E2E8EE"/>
          </a:solidFill>
          <a:ln w="12700">
            <a:solidFill>
              <a:srgbClr val="E2E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758184" y="1078992"/>
            <a:ext cx="1536192" cy="10515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325112" y="1115568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325112" y="11155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758184" y="1554480"/>
            <a:ext cx="15361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Encode &amp; Predict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758184" y="1792224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models produce category labels and numeric estimates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294376" y="1563624"/>
            <a:ext cx="182880" cy="45720"/>
          </a:xfrm>
          <a:prstGeom prst="rect">
            <a:avLst/>
          </a:prstGeom>
          <a:solidFill>
            <a:srgbClr val="E2E8EE"/>
          </a:solidFill>
          <a:ln w="12700">
            <a:solidFill>
              <a:srgbClr val="E2E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477256" y="1078992"/>
            <a:ext cx="1536192" cy="1051560"/>
          </a:xfrm>
          <a:prstGeom prst="rect">
            <a:avLst/>
          </a:prstGeom>
          <a:solidFill>
            <a:srgbClr val="AD1457"/>
          </a:solidFill>
          <a:ln w="12700">
            <a:solidFill>
              <a:srgbClr val="AD14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044184" y="1115568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044184" y="11155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D14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77256" y="1554480"/>
            <a:ext cx="15361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HMM State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77256" y="1792224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PCA-fused embedding fed to HMM for health state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013448" y="1563624"/>
            <a:ext cx="182880" cy="45720"/>
          </a:xfrm>
          <a:prstGeom prst="rect">
            <a:avLst/>
          </a:prstGeom>
          <a:solidFill>
            <a:srgbClr val="E2E8EE"/>
          </a:solidFill>
          <a:ln w="12700">
            <a:solidFill>
              <a:srgbClr val="E2E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196328" y="1078992"/>
            <a:ext cx="1536192" cy="1051560"/>
          </a:xfrm>
          <a:prstGeom prst="rect">
            <a:avLst/>
          </a:prstGeom>
          <a:solidFill>
            <a:srgbClr val="C75000"/>
          </a:solidFill>
          <a:ln w="12700">
            <a:solidFill>
              <a:srgbClr val="C75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763256" y="1115568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763256" y="11155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75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196328" y="1554480"/>
            <a:ext cx="15361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RL Protocol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196328" y="1792224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agent selects optimal daily plan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11480" y="228600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the system outputs for each user: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320040" y="2670048"/>
            <a:ext cx="2743200" cy="114300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E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320040" y="2670048"/>
            <a:ext cx="2743200" cy="5486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29768" y="277977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Gym Plan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29768" y="309067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workout type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29768" y="336499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calories burned per session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264408" y="2670048"/>
            <a:ext cx="2743200" cy="114300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E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3264408" y="2670048"/>
            <a:ext cx="2743200" cy="54864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374136" y="277977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99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Diet Plan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374136" y="309067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meal plan type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374136" y="336499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targets for calories, protein, carbs, fats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208776" y="2670048"/>
            <a:ext cx="2743200" cy="114300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E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208776" y="2670048"/>
            <a:ext cx="274320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318504" y="277977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Exercise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318504" y="309067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Intensity level (scale of 1–10)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318504" y="336499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calorie burn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20040" y="3968496"/>
            <a:ext cx="4297680" cy="114300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E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320040" y="3968496"/>
            <a:ext cx="4297680" cy="54864"/>
          </a:xfrm>
          <a:prstGeom prst="rect">
            <a:avLst/>
          </a:prstGeom>
          <a:solidFill>
            <a:srgbClr val="AD1457"/>
          </a:solidFill>
          <a:ln w="12700">
            <a:solidFill>
              <a:srgbClr val="AD14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29768" y="407822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D14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Health State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29768" y="438912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state: Sedentary / Moderate / Active / Peak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429768" y="46634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Inferred from full health embedding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846320" y="3968496"/>
            <a:ext cx="4297680" cy="114300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E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4846320" y="3968496"/>
            <a:ext cx="4297680" cy="54864"/>
          </a:xfrm>
          <a:prstGeom prst="rect">
            <a:avLst/>
          </a:prstGeom>
          <a:solidFill>
            <a:srgbClr val="C75000"/>
          </a:solidFill>
          <a:ln w="12700">
            <a:solidFill>
              <a:srgbClr val="C75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4956048" y="407822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5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RL Protocol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4956048" y="438912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7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Agent's chosen meal plan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4956048" y="46634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7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workout + intensity level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686800" cy="50800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93192" y="13716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B2545"/>
                </a:solidFill>
                <a:latin typeface="Trebuchet MS"/>
              </a:rPr>
              <a:t>Model Evaluation — Gym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68580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B7A8D"/>
                </a:solidFill>
                <a:latin typeface="Calibri"/>
              </a:rPr>
              <a:t>Random Forest Classifier: Workout Type  ·  Accuracy: 99.49%  ·  All classes AUC = 1.00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60120"/>
            <a:ext cx="2651760" cy="27432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rebuchet MS"/>
              </a:rPr>
              <a:t>Confusion Matrix</a:t>
            </a:r>
          </a:p>
        </p:txBody>
      </p:sp>
      <p:pic>
        <p:nvPicPr>
          <p:cNvPr id="6" name="Picture 5" descr="1778653269623_WhatsApp_Image_2026-05-13_at_09_58_0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4440"/>
            <a:ext cx="2651760" cy="23317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017520" y="960120"/>
            <a:ext cx="2560320" cy="2743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rebuchet MS"/>
              </a:rPr>
              <a:t>ROC Curve</a:t>
            </a:r>
          </a:p>
        </p:txBody>
      </p:sp>
      <p:pic>
        <p:nvPicPr>
          <p:cNvPr id="8" name="Picture 7" descr="1778653260332_WhatsApp_Image_2026-05-13_at_09_58_04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0" y="1234440"/>
            <a:ext cx="2560320" cy="23317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669280" y="960120"/>
            <a:ext cx="2743200" cy="274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rebuchet MS"/>
              </a:rPr>
              <a:t>Precision-Recall Curve</a:t>
            </a:r>
          </a:p>
        </p:txBody>
      </p:sp>
      <p:pic>
        <p:nvPicPr>
          <p:cNvPr id="10" name="Picture 9" descr="1778652733317_WhatsApp_Image_2026-05-13_at_09_58_03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1234440"/>
            <a:ext cx="2743200" cy="2331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274320" y="3703320"/>
            <a:ext cx="1938528" cy="822960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Trebuchet MS"/>
              </a:rPr>
              <a:t>Cardio</a:t>
            </a:r>
          </a:p>
          <a:p>
            <a:pPr algn="ctr"/>
            <a:r>
              <a:rPr sz="800">
                <a:solidFill>
                  <a:srgbClr val="E0F0FF"/>
                </a:solidFill>
                <a:latin typeface="Calibri"/>
              </a:rPr>
              <a:t>Precision: 1.00  |  Recall: 0.99  |  F1: 0.99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0" y="3703320"/>
            <a:ext cx="1938528" cy="8229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Trebuchet MS"/>
              </a:rPr>
              <a:t>HIIT</a:t>
            </a:r>
          </a:p>
          <a:p>
            <a:pPr algn="ctr"/>
            <a:r>
              <a:rPr sz="800">
                <a:solidFill>
                  <a:srgbClr val="E0F0FF"/>
                </a:solidFill>
                <a:latin typeface="Calibri"/>
              </a:rPr>
              <a:t>Precision: 1.00  |  Recall: 1.00  |  F1: 1.00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3703320"/>
            <a:ext cx="1938528" cy="82296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Trebuchet MS"/>
              </a:rPr>
              <a:t>Strength</a:t>
            </a:r>
          </a:p>
          <a:p>
            <a:pPr algn="ctr"/>
            <a:r>
              <a:rPr sz="800">
                <a:solidFill>
                  <a:srgbClr val="E0F0FF"/>
                </a:solidFill>
                <a:latin typeface="Calibri"/>
              </a:rPr>
              <a:t>Precision: 0.99  |  Recall: 1.00  |  F1: 0.99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3703320"/>
            <a:ext cx="1938528" cy="82296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Trebuchet MS"/>
              </a:rPr>
              <a:t>Yoga</a:t>
            </a:r>
          </a:p>
          <a:p>
            <a:pPr algn="ctr"/>
            <a:r>
              <a:rPr sz="800">
                <a:solidFill>
                  <a:srgbClr val="E0F0FF"/>
                </a:solidFill>
                <a:latin typeface="Calibri"/>
              </a:rPr>
              <a:t>Precision: 1.00  |  Recall: 1.00  |  F1: 1.00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686800" cy="50800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93192" y="13716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B2545"/>
                </a:solidFill>
                <a:latin typeface="Trebuchet MS"/>
              </a:rPr>
              <a:t>Model Evaluation — Diet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68580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B7A8D"/>
                </a:solidFill>
                <a:latin typeface="Calibri"/>
              </a:rPr>
              <a:t>Random Forest Classifier: Meal Plan  ·  Accuracy: 96.92%  ·  Both classes AUC = 0.99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60120"/>
            <a:ext cx="2651760" cy="27432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rebuchet MS"/>
              </a:rPr>
              <a:t>Confusion Matrix</a:t>
            </a:r>
          </a:p>
        </p:txBody>
      </p:sp>
      <p:pic>
        <p:nvPicPr>
          <p:cNvPr id="6" name="Picture 5" descr="1778652719076_WhatsApp_Image_2026-05-13_at_09_58_0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4440"/>
            <a:ext cx="2651760" cy="23317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017520" y="960120"/>
            <a:ext cx="2560320" cy="2743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rebuchet MS"/>
              </a:rPr>
              <a:t>ROC Curve</a:t>
            </a:r>
          </a:p>
        </p:txBody>
      </p:sp>
      <p:pic>
        <p:nvPicPr>
          <p:cNvPr id="8" name="Picture 7" descr="1778652707800_WhatsApp_Image_2026-05-13_at_09_57_59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0" y="1234440"/>
            <a:ext cx="2560320" cy="23317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669280" y="960120"/>
            <a:ext cx="2743200" cy="274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rebuchet MS"/>
              </a:rPr>
              <a:t>Precision-Recall Curve</a:t>
            </a:r>
          </a:p>
        </p:txBody>
      </p:sp>
      <p:pic>
        <p:nvPicPr>
          <p:cNvPr id="10" name="Picture 9" descr="1778652695218_WhatsApp_Image_2026-05-13_at_09_57_58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1234440"/>
            <a:ext cx="2743200" cy="2331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274320" y="3703320"/>
            <a:ext cx="1938528" cy="822960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Trebuchet MS"/>
              </a:rPr>
              <a:t>Balanced Diet</a:t>
            </a:r>
          </a:p>
          <a:p>
            <a:pPr algn="ctr"/>
            <a:r>
              <a:rPr sz="800" dirty="0">
                <a:solidFill>
                  <a:srgbClr val="E0F0FF"/>
                </a:solidFill>
                <a:latin typeface="Calibri"/>
              </a:rPr>
              <a:t>P: 0.97  |  R: 0.99  |  F1: 0.98 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0" y="3703320"/>
            <a:ext cx="1938528" cy="8229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Trebuchet MS"/>
              </a:rPr>
              <a:t>High-Protein Diet</a:t>
            </a:r>
          </a:p>
          <a:p>
            <a:pPr algn="ctr"/>
            <a:r>
              <a:rPr sz="800" dirty="0">
                <a:solidFill>
                  <a:srgbClr val="E0F0FF"/>
                </a:solidFill>
                <a:latin typeface="Calibri"/>
              </a:rPr>
              <a:t>P: 0.97  |  R: 0.90  |  F1: 0.93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3703320"/>
            <a:ext cx="1938528" cy="8229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Trebuchet MS"/>
              </a:rPr>
              <a:t>Macro R² ≈ 1.00</a:t>
            </a:r>
          </a:p>
          <a:p>
            <a:pPr algn="ctr"/>
            <a:r>
              <a:rPr sz="800">
                <a:solidFill>
                  <a:srgbClr val="E0F0FF"/>
                </a:solidFill>
                <a:latin typeface="Calibri"/>
              </a:rPr>
              <a:t>Calories R²:0.9998  |  Protein R²:1.00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3703320"/>
            <a:ext cx="1938528" cy="82296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Trebuchet MS"/>
              </a:rPr>
              <a:t>Macro MAE</a:t>
            </a:r>
          </a:p>
          <a:p>
            <a:pPr algn="ctr"/>
            <a:r>
              <a:rPr sz="800">
                <a:solidFill>
                  <a:srgbClr val="E0F0FF"/>
                </a:solidFill>
                <a:latin typeface="Calibri"/>
              </a:rPr>
              <a:t>Calories MAE:0.58  |  Protein MAE:0.06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686800" cy="50800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93192" y="13716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B2545"/>
                </a:solidFill>
                <a:latin typeface="Trebuchet MS"/>
              </a:rPr>
              <a:t>Model Evaluation — Exercise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68580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B7A8D"/>
                </a:solidFill>
                <a:latin typeface="Calibri"/>
              </a:rPr>
              <a:t>Random Forest Classifier: Intensity Level  ·  Accuracy: 95.74%  ·  Avg AUC = 0.99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60120"/>
            <a:ext cx="2651760" cy="27432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rebuchet MS"/>
              </a:rPr>
              <a:t>Confusion Matrix</a:t>
            </a:r>
          </a:p>
        </p:txBody>
      </p:sp>
      <p:pic>
        <p:nvPicPr>
          <p:cNvPr id="6" name="Picture 5" descr="1778652683985_WhatsApp_Image_2026-05-13_at_09_57_5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4440"/>
            <a:ext cx="2651760" cy="23317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017520" y="960120"/>
            <a:ext cx="2560320" cy="2743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rebuchet MS"/>
              </a:rPr>
              <a:t>ROC Curve</a:t>
            </a:r>
          </a:p>
        </p:txBody>
      </p:sp>
      <p:pic>
        <p:nvPicPr>
          <p:cNvPr id="8" name="Picture 7" descr="1778652672458_WhatsApp_Image_2026-05-13_at_09_57_54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0" y="1234440"/>
            <a:ext cx="2560320" cy="23317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669280" y="960120"/>
            <a:ext cx="2743200" cy="274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rebuchet MS"/>
              </a:rPr>
              <a:t>Precision-Recall Curve</a:t>
            </a:r>
          </a:p>
        </p:txBody>
      </p:sp>
      <p:pic>
        <p:nvPicPr>
          <p:cNvPr id="10" name="Picture 9" descr="1778652659348_WhatsApp_Image_2026-05-13_at_09_57_53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1234440"/>
            <a:ext cx="2743200" cy="2331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274320" y="3703320"/>
            <a:ext cx="1938528" cy="822960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Trebuchet MS"/>
              </a:rPr>
              <a:t>Level 1</a:t>
            </a:r>
          </a:p>
          <a:p>
            <a:pPr algn="ctr"/>
            <a:r>
              <a:rPr sz="800">
                <a:solidFill>
                  <a:srgbClr val="E0F0FF"/>
                </a:solidFill>
                <a:latin typeface="Calibri"/>
              </a:rPr>
              <a:t>P:1.00 R:1.00 F1:1.00 | AP=1.00 AUC=1.00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0" y="3703320"/>
            <a:ext cx="1938528" cy="8229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Trebuchet MS"/>
              </a:rPr>
              <a:t>Level 2</a:t>
            </a:r>
          </a:p>
          <a:p>
            <a:pPr algn="ctr"/>
            <a:r>
              <a:rPr sz="800">
                <a:solidFill>
                  <a:srgbClr val="E0F0FF"/>
                </a:solidFill>
                <a:latin typeface="Calibri"/>
              </a:rPr>
              <a:t>P:0.89 R:1.00 F1:0.94 | AP=1.00 AUC=1.00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3703320"/>
            <a:ext cx="1938528" cy="8229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Trebuchet MS"/>
              </a:rPr>
              <a:t>Level 3</a:t>
            </a:r>
          </a:p>
          <a:p>
            <a:pPr algn="ctr"/>
            <a:r>
              <a:rPr sz="800">
                <a:solidFill>
                  <a:srgbClr val="E0F0FF"/>
                </a:solidFill>
                <a:latin typeface="Calibri"/>
              </a:rPr>
              <a:t>P:1.00 R:0.83 F1:0.91 | AP=0.96 AUC=0.98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3703320"/>
            <a:ext cx="1938528" cy="82296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Trebuchet MS"/>
              </a:rPr>
              <a:t>Level 4</a:t>
            </a:r>
          </a:p>
          <a:p>
            <a:pPr algn="ctr"/>
            <a:r>
              <a:rPr sz="800">
                <a:solidFill>
                  <a:srgbClr val="E0F0FF"/>
                </a:solidFill>
                <a:latin typeface="Calibri"/>
              </a:rPr>
              <a:t>P:0.86 R:1.00 F1:0.92 | AP=0.73 AUC=0.98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686800" cy="50800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93192" y="13716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dirty="0">
                <a:solidFill>
                  <a:srgbClr val="0B2545"/>
                </a:solidFill>
                <a:latin typeface="Trebuchet MS"/>
              </a:rPr>
              <a:t>Regression Performance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68580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B7A8D"/>
                </a:solidFill>
                <a:latin typeface="Calibri"/>
              </a:rPr>
              <a:t>Numeric prediction quality across all four regression targets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1965960" cy="64008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rebuchet MS"/>
              </a:rPr>
              <a:t>Gym
Calorie Burn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45920"/>
            <a:ext cx="1965960" cy="777240"/>
          </a:xfrm>
          <a:prstGeom prst="rect">
            <a:avLst/>
          </a:prstGeom>
          <a:solidFill>
            <a:srgbClr val="F4F7F9"/>
          </a:solidFill>
          <a:ln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dirty="0">
                <a:solidFill>
                  <a:srgbClr val="0B2545"/>
                </a:solidFill>
                <a:latin typeface="Trebuchet MS"/>
              </a:rPr>
              <a:t>R² = 0.9724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423160"/>
            <a:ext cx="1965960" cy="777240"/>
          </a:xfrm>
          <a:prstGeom prst="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>
                <a:solidFill>
                  <a:srgbClr val="6B7A8D"/>
                </a:solidFill>
                <a:latin typeface="Calibri"/>
              </a:rPr>
              <a:t>MAE: 36.39 kcal
RMSE: 47.96 kcal</a:t>
            </a:r>
          </a:p>
        </p:txBody>
      </p:sp>
      <p:sp>
        <p:nvSpPr>
          <p:cNvPr id="8" name="Rectangle 7"/>
          <p:cNvSpPr/>
          <p:nvPr/>
        </p:nvSpPr>
        <p:spPr>
          <a:xfrm>
            <a:off x="2313432" y="1005840"/>
            <a:ext cx="1965960" cy="640080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rebuchet MS"/>
              </a:rPr>
              <a:t>Diet
Macros (avg)</a:t>
            </a:r>
          </a:p>
        </p:txBody>
      </p:sp>
      <p:sp>
        <p:nvSpPr>
          <p:cNvPr id="9" name="Rectangle 8"/>
          <p:cNvSpPr/>
          <p:nvPr/>
        </p:nvSpPr>
        <p:spPr>
          <a:xfrm>
            <a:off x="2313432" y="1645920"/>
            <a:ext cx="1965960" cy="777240"/>
          </a:xfrm>
          <a:prstGeom prst="rect">
            <a:avLst/>
          </a:prstGeom>
          <a:solidFill>
            <a:srgbClr val="F4F7F9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1B998B"/>
                </a:solidFill>
                <a:latin typeface="Trebuchet MS"/>
              </a:rPr>
              <a:t>R² ≈ 1.00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13432" y="2423160"/>
            <a:ext cx="1965960" cy="777240"/>
          </a:xfrm>
          <a:prstGeom prst="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>
                <a:solidFill>
                  <a:srgbClr val="6B7A8D"/>
                </a:solidFill>
                <a:latin typeface="Calibri"/>
              </a:rPr>
              <a:t>Calories MAE: 0.58
Protein MAE: 0.06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52544" y="1005840"/>
            <a:ext cx="1965960" cy="64008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rebuchet MS"/>
              </a:rPr>
              <a:t>Exercise
Calorie Burn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2544" y="1645920"/>
            <a:ext cx="1965960" cy="777240"/>
          </a:xfrm>
          <a:prstGeom prst="rect">
            <a:avLst/>
          </a:prstGeom>
          <a:solidFill>
            <a:srgbClr val="F4F7F9"/>
          </a:solidFill>
          <a:ln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dirty="0">
                <a:solidFill>
                  <a:srgbClr val="E65100"/>
                </a:solidFill>
                <a:latin typeface="Trebuchet MS"/>
              </a:rPr>
              <a:t>R² = 0.</a:t>
            </a:r>
            <a:r>
              <a:rPr lang="en-US" sz="2000" b="1" dirty="0">
                <a:solidFill>
                  <a:srgbClr val="E65100"/>
                </a:solidFill>
                <a:latin typeface="Trebuchet MS"/>
              </a:rPr>
              <a:t>8</a:t>
            </a:r>
            <a:r>
              <a:rPr sz="2000" b="1" dirty="0">
                <a:solidFill>
                  <a:srgbClr val="E65100"/>
                </a:solidFill>
                <a:latin typeface="Trebuchet MS"/>
              </a:rPr>
              <a:t>718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52544" y="2423160"/>
            <a:ext cx="1965960" cy="777240"/>
          </a:xfrm>
          <a:prstGeom prst="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>
                <a:solidFill>
                  <a:srgbClr val="6B7A8D"/>
                </a:solidFill>
                <a:latin typeface="Calibri"/>
              </a:rPr>
              <a:t>MAE: 469.23 kcal
RMSE: 590.12 kcal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91656" y="1005840"/>
            <a:ext cx="1965960" cy="64008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rebuchet MS"/>
              </a:rPr>
              <a:t>Survey
Adherence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91656" y="1645920"/>
            <a:ext cx="1965960" cy="777240"/>
          </a:xfrm>
          <a:prstGeom prst="rect">
            <a:avLst/>
          </a:prstGeom>
          <a:solidFill>
            <a:srgbClr val="F4F7F9"/>
          </a:solidFill>
          <a:ln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7B1FA2"/>
                </a:solidFill>
                <a:latin typeface="Trebuchet MS"/>
              </a:rPr>
              <a:t>R² = 0.9716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91656" y="2423160"/>
            <a:ext cx="1965960" cy="777240"/>
          </a:xfrm>
          <a:prstGeom prst="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>
                <a:solidFill>
                  <a:srgbClr val="6B7A8D"/>
                </a:solidFill>
                <a:latin typeface="Calibri"/>
              </a:rPr>
              <a:t>MAE: 0.32
RMSE: 0.43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3291840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6B7A8D"/>
                </a:solidFill>
                <a:latin typeface="Calibri"/>
              </a:rPr>
              <a:t>⚠  Exercise calorie burn R²=0.37 reflects high natural variability in daily activity data (dailyActivity_merged.csv). The classifier (intensity level, 95.74%) and other regressors perform strongly.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3840480"/>
            <a:ext cx="79552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2545"/>
                </a:solidFill>
                <a:latin typeface="Trebuchet MS"/>
              </a:rPr>
              <a:t>Classification Accuracy at a Glance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160520"/>
            <a:ext cx="1965960" cy="41148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Trebuchet MS"/>
              </a:rPr>
              <a:t>Gym Workout Type:  99.49%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13432" y="4160520"/>
            <a:ext cx="1965960" cy="411480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Trebuchet MS"/>
              </a:rPr>
              <a:t>Diet Meal Plan:  96.92%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52544" y="4160520"/>
            <a:ext cx="1965960" cy="4114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Trebuchet MS"/>
              </a:rPr>
              <a:t>Exercise Intensity:  95.74%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91656" y="4160520"/>
            <a:ext cx="1965960" cy="41148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Trebuchet MS"/>
              </a:rPr>
              <a:t>Survey Adherence R²:  0.9716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AE2F817-7F7D-3D6A-7A01-2A48D85B3042}"/>
              </a:ext>
            </a:extLst>
          </p:cNvPr>
          <p:cNvSpPr/>
          <p:nvPr/>
        </p:nvSpPr>
        <p:spPr>
          <a:xfrm>
            <a:off x="0" y="0"/>
            <a:ext cx="8686800" cy="50800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806220E4-9EFF-99A4-62EE-8A293E37D4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2304"/>
          <a:stretch>
            <a:fillRect/>
          </a:stretch>
        </p:blipFill>
        <p:spPr>
          <a:xfrm>
            <a:off x="375772" y="1556787"/>
            <a:ext cx="8392455" cy="1577183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42110F07-3C63-9FAE-AB7C-23096796CADC}"/>
              </a:ext>
            </a:extLst>
          </p:cNvPr>
          <p:cNvSpPr txBox="1"/>
          <p:nvPr/>
        </p:nvSpPr>
        <p:spPr>
          <a:xfrm>
            <a:off x="375772" y="434461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dirty="0">
                <a:solidFill>
                  <a:srgbClr val="0B2545"/>
                </a:solidFill>
                <a:latin typeface="Trebuchet MS"/>
              </a:rPr>
              <a:t>Overall Model Evaluation</a:t>
            </a:r>
            <a:endParaRPr lang="en-US" sz="1800" b="1" dirty="0">
              <a:solidFill>
                <a:srgbClr val="0B2545"/>
              </a:solidFill>
              <a:latin typeface="Trebuchet MS"/>
            </a:endParaRP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DEA97B58-4354-F5A4-4718-EDA0EC901C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3406" r="6593"/>
          <a:stretch>
            <a:fillRect/>
          </a:stretch>
        </p:blipFill>
        <p:spPr>
          <a:xfrm>
            <a:off x="375772" y="3133970"/>
            <a:ext cx="8392455" cy="578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4339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943600" y="-914400"/>
            <a:ext cx="4389120" cy="4389120"/>
          </a:xfrm>
          <a:prstGeom prst="ellipse">
            <a:avLst/>
          </a:prstGeom>
          <a:solidFill>
            <a:srgbClr val="163A6B">
              <a:alpha val="65000"/>
            </a:srgbClr>
          </a:solidFill>
          <a:ln w="12700">
            <a:solidFill>
              <a:srgbClr val="16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949440" y="3017520"/>
            <a:ext cx="2651760" cy="2651760"/>
          </a:xfrm>
          <a:prstGeom prst="ellipse">
            <a:avLst/>
          </a:prstGeom>
          <a:solidFill>
            <a:srgbClr val="1B998B">
              <a:alpha val="20000"/>
            </a:srgbClr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26886" y="1628775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6" name="Shape 4"/>
          <p:cNvSpPr/>
          <p:nvPr/>
        </p:nvSpPr>
        <p:spPr>
          <a:xfrm>
            <a:off x="334042" y="3017520"/>
            <a:ext cx="4114800" cy="4572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34042" y="32004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Personalized Fitness &amp; Diet System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" y="3657600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Omamah Ajmal  ·  Daniya Aamir  ·  Iqra Iqbal  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1891</Words>
  <Application>Microsoft Office PowerPoint</Application>
  <PresentationFormat>On-screen Show (16:9)</PresentationFormat>
  <Paragraphs>330</Paragraphs>
  <Slides>17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Personalized Fitness &amp; Diet System</dc:title>
  <dc:subject>PptxGenJS Presentation</dc:subject>
  <dc:creator>PptxGenJS</dc:creator>
  <cp:lastModifiedBy>Daniya Aamir</cp:lastModifiedBy>
  <cp:revision>7</cp:revision>
  <dcterms:created xsi:type="dcterms:W3CDTF">2026-05-09T18:47:44Z</dcterms:created>
  <dcterms:modified xsi:type="dcterms:W3CDTF">2026-05-20T06:50:54Z</dcterms:modified>
</cp:coreProperties>
</file>